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6" r:id="rId5"/>
    <p:sldId id="269" r:id="rId6"/>
    <p:sldId id="273" r:id="rId7"/>
    <p:sldId id="268" r:id="rId8"/>
    <p:sldId id="271" r:id="rId9"/>
    <p:sldId id="270" r:id="rId10"/>
    <p:sldId id="274" r:id="rId11"/>
    <p:sldId id="267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B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53" d="100"/>
          <a:sy n="53" d="100"/>
        </p:scale>
        <p:origin x="74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3D3A90-1350-8BD9-C20F-88B0C537D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75A0868-A476-0AD9-7BC3-01C87D531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B7015B-B783-6E95-B59B-28A593666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088365-2121-B5A2-4369-087708BFA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409A28-EA8F-6646-4445-2594F378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0998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5E60B6-FBC5-7AA7-585E-D125A9EC9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F41F96-EEEB-5569-F8F8-7F7C26633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F813AD-9E7D-55FE-DB63-ED6F646C3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BC58C8-84E0-342A-5CBC-C6792EED2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CA03B8-21F7-EABD-4CBA-43E52B40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2336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2C9025-B3EB-C603-F2F2-37D970635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B9D0E5-2EAE-D7B2-7815-81CA24666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08099D-4492-02C0-CAA3-7C7A8FF9C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B13CCD-4784-A4D5-69C2-4AF95D11E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EA4ABF-BEF4-D792-29D4-46EFCEBE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3510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621CE8-47B3-13D0-9F47-855F75940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F9FC1B-87D1-8EC7-215C-C1D243C3C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A48CA1-FA6D-1ECF-668F-C55EFBD3B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A5D159F-291D-8702-04A1-1469B0300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E798F6-9DAA-86D4-4ECD-0B79B2366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45474A-38CB-B738-7D70-BCDC9CDA7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8256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664291-E4B4-52AA-0479-B7878D30D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B16288B-AF37-C999-5CA8-6539A962E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A2DCF0C-A492-3717-670D-646308BAA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6CD5ED1-7E57-6C0A-79FC-5B36AB7409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F092687-503F-855B-6F91-FEB6232942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87BBC34-257C-99FF-7B4C-10C2EF154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EDC7DF2-0E57-85F5-B8B6-F4C14A5FA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7E12B47-648D-4D2B-8AE5-DE3423001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1333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40012D-BD33-B6C9-343D-D27CB76DE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547E668-41E3-E164-C490-3DB7C27C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1386C44-92C6-00EB-26EB-5F7D7BC56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883CE86-6A38-C178-CDF0-3EA85D83C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4301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2EC33EA-6EF9-A430-4CFC-D7B5E7BAA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B6D11A8-9FA8-6A49-C3B1-CB5158465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A32C622-44A5-F04A-50E0-15F7A0586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569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3990E9-3E49-B6DE-B9EE-E52A4503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D28D7B-68C3-23B9-BF03-218BFAAAF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9D0F14D-0F87-6CF2-D075-C056FD705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5DEF47-6329-083F-A936-7492F4173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E24D2A-D282-3131-63AE-78E61428E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78B704-8A69-EAF5-BD5D-01B7EBD3F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8231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8E2D1A-2EBD-8081-D288-B119671D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312D188-35B7-90D0-7269-86F5093F14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9EF350C-F917-7663-537D-4960AB9C9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D536914-83AD-118F-244F-18C1791B5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57C9DAF-93EE-EC7C-0C5C-850D95255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4A6B1D-2502-09D2-0151-50FD25A3C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0078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53730D-38DA-AA79-C153-175DB02C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A62F785-0FA1-5108-97BE-251070D6B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1693BE-901C-295D-733C-AD2C29B54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BB9970-85CC-07A8-6733-667CBB02E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BCF8A6-F153-4D86-9464-E721147CC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8019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DE40027-94BA-ACE0-46C8-026C52A28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D9A27A0-F016-48A7-AA14-83D47A2AC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8C3A8B-64A4-0EE5-5E2B-CD88FA06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7D2B17-8F71-F905-7F68-3576BD566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4AA64E-831F-DB87-AF16-7533FCAE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6238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60C8D9-7F53-5BFD-7C84-CA9759CF0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B84DA89-CB71-933A-7D27-6FAA9B386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535165-5936-3344-A2D6-D56AF623D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C9D812-8DBE-4338-B587-3B1184F2312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4C9AEE-E305-4439-DA1B-17A7EEDEB8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107427-4C83-3115-E2BC-924525FE4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7330AA-4F48-40FE-8A53-9EDF7C67B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2403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8A4633-8523-ADBA-4B32-F0E13A79FA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卒業制作中間発表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92883BB-25F3-E797-BCA5-0D399BACF3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25033</a:t>
            </a:r>
            <a:r>
              <a:rPr kumimoji="1" lang="ja-JP" altLang="en-US" dirty="0"/>
              <a:t>　田中　美絵浬</a:t>
            </a:r>
          </a:p>
        </p:txBody>
      </p:sp>
    </p:spTree>
    <p:extLst>
      <p:ext uri="{BB962C8B-B14F-4D97-AF65-F5344CB8AC3E}">
        <p14:creationId xmlns:p14="http://schemas.microsoft.com/office/powerpoint/2010/main" val="1667277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 descr="image.png">
            <a:extLst>
              <a:ext uri="{FF2B5EF4-FFF2-40B4-BE49-F238E27FC236}">
                <a16:creationId xmlns:a16="http://schemas.microsoft.com/office/drawing/2014/main" id="{5346C6C9-841E-B8A7-603F-F6DC25E3E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036" y="1721890"/>
            <a:ext cx="5300383" cy="2034184"/>
          </a:xfrm>
          <a:prstGeom prst="rect">
            <a:avLst/>
          </a:prstGeom>
        </p:spPr>
      </p:pic>
      <p:pic>
        <p:nvPicPr>
          <p:cNvPr id="12" name="図 11" descr="image.png">
            <a:extLst>
              <a:ext uri="{FF2B5EF4-FFF2-40B4-BE49-F238E27FC236}">
                <a16:creationId xmlns:a16="http://schemas.microsoft.com/office/drawing/2014/main" id="{C85B4428-93EC-0014-42E8-D216B1D13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446" y="4133467"/>
            <a:ext cx="5300973" cy="2067569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44173434-3A58-D052-E4C2-95C97DB24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3931" y="2317801"/>
            <a:ext cx="4330941" cy="623262"/>
          </a:xfrm>
        </p:spPr>
        <p:txBody>
          <a:bodyPr>
            <a:normAutofit fontScale="90000"/>
          </a:bodyPr>
          <a:lstStyle/>
          <a:p>
            <a:r>
              <a:rPr kumimoji="1" lang="en-US" altLang="ja-JP" sz="2800" dirty="0">
                <a:solidFill>
                  <a:schemeClr val="bg1"/>
                </a:solidFill>
              </a:rPr>
              <a:t>V</a:t>
            </a:r>
            <a:r>
              <a:rPr kumimoji="1" lang="ja-JP" altLang="en-US" sz="2800" dirty="0">
                <a:solidFill>
                  <a:schemeClr val="bg1"/>
                </a:solidFill>
              </a:rPr>
              <a:t>ライバー事務所公式サイト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74AC9AE2-49AF-649E-3D9E-FDE9DAD402DD}"/>
              </a:ext>
            </a:extLst>
          </p:cNvPr>
          <p:cNvSpPr txBox="1">
            <a:spLocks/>
          </p:cNvSpPr>
          <p:nvPr/>
        </p:nvSpPr>
        <p:spPr>
          <a:xfrm>
            <a:off x="6378546" y="4880925"/>
            <a:ext cx="4048395" cy="623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>
                <a:solidFill>
                  <a:schemeClr val="bg1"/>
                </a:solidFill>
              </a:rPr>
              <a:t>新作ゲーム公式サイト</a:t>
            </a:r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55226B13-20F9-A908-C277-423C1833EACE}"/>
              </a:ext>
            </a:extLst>
          </p:cNvPr>
          <p:cNvSpPr txBox="1">
            <a:spLocks/>
          </p:cNvSpPr>
          <p:nvPr/>
        </p:nvSpPr>
        <p:spPr>
          <a:xfrm>
            <a:off x="6237446" y="1721890"/>
            <a:ext cx="3740621" cy="8200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4000" dirty="0">
                <a:solidFill>
                  <a:schemeClr val="bg1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Topic.01</a:t>
            </a:r>
            <a:endParaRPr lang="ja-JP" altLang="en-US" sz="4000" dirty="0">
              <a:solidFill>
                <a:schemeClr val="bg1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0654249E-3B92-1EE9-B2B4-46AEA8EAE59D}"/>
              </a:ext>
            </a:extLst>
          </p:cNvPr>
          <p:cNvSpPr txBox="1">
            <a:spLocks/>
          </p:cNvSpPr>
          <p:nvPr/>
        </p:nvSpPr>
        <p:spPr>
          <a:xfrm>
            <a:off x="6343931" y="4190991"/>
            <a:ext cx="3740621" cy="8200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4000" dirty="0">
                <a:solidFill>
                  <a:srgbClr val="C8B6A6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Topic.02</a:t>
            </a:r>
            <a:endParaRPr lang="ja-JP" altLang="en-US" sz="4000" dirty="0">
              <a:solidFill>
                <a:srgbClr val="C8B6A6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8B11B04-87F6-1E9B-2787-7F238210216A}"/>
              </a:ext>
            </a:extLst>
          </p:cNvPr>
          <p:cNvSpPr txBox="1"/>
          <p:nvPr/>
        </p:nvSpPr>
        <p:spPr>
          <a:xfrm>
            <a:off x="634605" y="680054"/>
            <a:ext cx="17038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ja-JP" altLang="en-US" sz="5400" b="1" dirty="0">
                <a:effectLst/>
                <a:latin typeface="Poppins" panose="020B0502040204020203" pitchFamily="2" charset="0"/>
              </a:rPr>
              <a:t>目次</a:t>
            </a:r>
            <a:endParaRPr lang="ja-JP" altLang="ja-JP" sz="5400" b="0" dirty="0">
              <a:effectLst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C77889B4-8C63-12FE-FA0C-BC9DEB538A7A}"/>
              </a:ext>
            </a:extLst>
          </p:cNvPr>
          <p:cNvSpPr/>
          <p:nvPr/>
        </p:nvSpPr>
        <p:spPr>
          <a:xfrm>
            <a:off x="422206" y="648234"/>
            <a:ext cx="261257" cy="986971"/>
          </a:xfrm>
          <a:prstGeom prst="roundRect">
            <a:avLst/>
          </a:prstGeom>
          <a:solidFill>
            <a:srgbClr val="C8B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タイトル 1">
            <a:extLst>
              <a:ext uri="{FF2B5EF4-FFF2-40B4-BE49-F238E27FC236}">
                <a16:creationId xmlns:a16="http://schemas.microsoft.com/office/drawing/2014/main" id="{F93B3581-A90A-F777-1A82-C427E37A3DA8}"/>
              </a:ext>
            </a:extLst>
          </p:cNvPr>
          <p:cNvSpPr txBox="1">
            <a:spLocks/>
          </p:cNvSpPr>
          <p:nvPr/>
        </p:nvSpPr>
        <p:spPr>
          <a:xfrm>
            <a:off x="6096000" y="2881122"/>
            <a:ext cx="4330941" cy="623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>
                <a:solidFill>
                  <a:schemeClr val="bg1"/>
                </a:solidFill>
              </a:rPr>
              <a:t>『</a:t>
            </a:r>
            <a:r>
              <a:rPr lang="ja-JP" altLang="ja-JP" dirty="0">
                <a:solidFill>
                  <a:schemeClr val="bg1"/>
                </a:solidFill>
              </a:rPr>
              <a:t>Hollow Record</a:t>
            </a:r>
            <a:r>
              <a:rPr lang="en-US" altLang="ja-JP" dirty="0">
                <a:solidFill>
                  <a:schemeClr val="bg1"/>
                </a:solidFill>
              </a:rPr>
              <a:t>』</a:t>
            </a:r>
            <a:endParaRPr lang="ja-JP" altLang="ja-JP" dirty="0">
              <a:solidFill>
                <a:schemeClr val="bg1"/>
              </a:solidFill>
            </a:endParaRPr>
          </a:p>
        </p:txBody>
      </p:sp>
      <p:sp>
        <p:nvSpPr>
          <p:cNvPr id="21" name="タイトル 1">
            <a:extLst>
              <a:ext uri="{FF2B5EF4-FFF2-40B4-BE49-F238E27FC236}">
                <a16:creationId xmlns:a16="http://schemas.microsoft.com/office/drawing/2014/main" id="{05DD5BFA-0909-A813-060D-452306C520A6}"/>
              </a:ext>
            </a:extLst>
          </p:cNvPr>
          <p:cNvSpPr txBox="1">
            <a:spLocks/>
          </p:cNvSpPr>
          <p:nvPr/>
        </p:nvSpPr>
        <p:spPr>
          <a:xfrm>
            <a:off x="6096000" y="5510009"/>
            <a:ext cx="4330941" cy="623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>
                <a:solidFill>
                  <a:schemeClr val="bg1"/>
                </a:solidFill>
              </a:rPr>
              <a:t>『Dread</a:t>
            </a:r>
            <a:r>
              <a:rPr lang="ja-JP" altLang="en-US" dirty="0">
                <a:solidFill>
                  <a:schemeClr val="bg1"/>
                </a:solidFill>
              </a:rPr>
              <a:t> </a:t>
            </a:r>
            <a:r>
              <a:rPr lang="en-US" altLang="ja-JP" dirty="0">
                <a:solidFill>
                  <a:schemeClr val="bg1"/>
                </a:solidFill>
              </a:rPr>
              <a:t>Noir』</a:t>
            </a:r>
            <a:endParaRPr lang="ja-JP" altLang="ja-JP" dirty="0">
              <a:solidFill>
                <a:schemeClr val="bg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417CF40-2506-F95C-F476-59DEAE96663E}"/>
              </a:ext>
            </a:extLst>
          </p:cNvPr>
          <p:cNvSpPr txBox="1"/>
          <p:nvPr/>
        </p:nvSpPr>
        <p:spPr>
          <a:xfrm>
            <a:off x="376641" y="1890958"/>
            <a:ext cx="5164000" cy="3699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 rtl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ja-JP" altLang="en-US" sz="4000" dirty="0">
                <a:latin typeface="Poppins" panose="020B0502040204020203" pitchFamily="2" charset="0"/>
              </a:rPr>
              <a:t>テーマ</a:t>
            </a:r>
            <a:endParaRPr lang="en-US" altLang="ja-JP" sz="4000" dirty="0">
              <a:latin typeface="Poppins" panose="020B0502040204020203" pitchFamily="2" charset="0"/>
            </a:endParaRPr>
          </a:p>
          <a:p>
            <a:pPr marL="685800" indent="-685800" rtl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ja-JP" altLang="en-US" sz="4000" dirty="0">
                <a:effectLst/>
                <a:latin typeface="Poppins" panose="020B0502040204020203" pitchFamily="2" charset="0"/>
              </a:rPr>
              <a:t>目的・背景</a:t>
            </a:r>
            <a:endParaRPr lang="en-US" altLang="ja-JP" sz="4000" dirty="0">
              <a:effectLst/>
              <a:latin typeface="Poppins" panose="020B0502040204020203" pitchFamily="2" charset="0"/>
            </a:endParaRPr>
          </a:p>
          <a:p>
            <a:pPr marL="685800" indent="-685800" rtl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ja-JP" altLang="en-US" sz="4000" dirty="0">
                <a:latin typeface="Poppins" panose="020B0502040204020203" pitchFamily="2" charset="0"/>
              </a:rPr>
              <a:t>作品概要</a:t>
            </a:r>
            <a:endParaRPr lang="en-US" altLang="ja-JP" sz="4000" dirty="0">
              <a:latin typeface="Poppins" panose="020B0502040204020203" pitchFamily="2" charset="0"/>
            </a:endParaRPr>
          </a:p>
          <a:p>
            <a:pPr marL="685800" indent="-685800" rtl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ja-JP" altLang="en-US" sz="4000" dirty="0">
                <a:effectLst/>
                <a:latin typeface="Poppins" panose="020B0502040204020203" pitchFamily="2" charset="0"/>
              </a:rPr>
              <a:t>今後の課題と流れ</a:t>
            </a:r>
            <a:endParaRPr lang="ja-JP" altLang="ja-JP" sz="4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867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877EF-DE65-92FE-C04E-CFEC71E17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image.png">
            <a:extLst>
              <a:ext uri="{FF2B5EF4-FFF2-40B4-BE49-F238E27FC236}">
                <a16:creationId xmlns:a16="http://schemas.microsoft.com/office/drawing/2014/main" id="{FE2FAB6B-92AF-4659-949E-DC05C4CAE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F8757CE-C3E3-63B3-3138-19624FCCA5BF}"/>
              </a:ext>
            </a:extLst>
          </p:cNvPr>
          <p:cNvSpPr txBox="1"/>
          <p:nvPr/>
        </p:nvSpPr>
        <p:spPr>
          <a:xfrm>
            <a:off x="252090" y="2712491"/>
            <a:ext cx="61601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ja-JP" sz="5400" b="1" dirty="0">
                <a:solidFill>
                  <a:srgbClr val="FFFFFF"/>
                </a:solidFill>
                <a:latin typeface="Poppins" panose="020B0502040204020203" pitchFamily="2" charset="0"/>
              </a:rPr>
              <a:t>Topic.</a:t>
            </a:r>
            <a:r>
              <a:rPr lang="ja-JP" altLang="ja-JP" sz="5400" b="1" i="0" u="none" strike="noStrike" dirty="0">
                <a:solidFill>
                  <a:srgbClr val="FFFFFF"/>
                </a:solidFill>
                <a:effectLst/>
                <a:latin typeface="Poppins" panose="020B0502040204020203" pitchFamily="2" charset="0"/>
              </a:rPr>
              <a:t>01</a:t>
            </a:r>
            <a:endParaRPr lang="ja-JP" altLang="ja-JP" sz="5400" b="0" dirty="0">
              <a:effectLst/>
            </a:endParaRPr>
          </a:p>
        </p:txBody>
      </p:sp>
      <p:sp>
        <p:nvSpPr>
          <p:cNvPr id="19" name="タイトル 1">
            <a:extLst>
              <a:ext uri="{FF2B5EF4-FFF2-40B4-BE49-F238E27FC236}">
                <a16:creationId xmlns:a16="http://schemas.microsoft.com/office/drawing/2014/main" id="{44173434-3A58-D052-E4C2-95C97DB240A0}"/>
              </a:ext>
            </a:extLst>
          </p:cNvPr>
          <p:cNvSpPr txBox="1">
            <a:spLocks/>
          </p:cNvSpPr>
          <p:nvPr/>
        </p:nvSpPr>
        <p:spPr>
          <a:xfrm>
            <a:off x="252090" y="3683844"/>
            <a:ext cx="4885968" cy="6232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800" dirty="0">
                <a:solidFill>
                  <a:schemeClr val="bg1"/>
                </a:solidFill>
              </a:rPr>
              <a:t>V</a:t>
            </a:r>
            <a:r>
              <a:rPr lang="ja-JP" altLang="en-US" sz="2800" dirty="0">
                <a:solidFill>
                  <a:schemeClr val="bg1"/>
                </a:solidFill>
              </a:rPr>
              <a:t>ライバー事務所公式サイト</a:t>
            </a:r>
          </a:p>
        </p:txBody>
      </p:sp>
    </p:spTree>
    <p:extLst>
      <p:ext uri="{BB962C8B-B14F-4D97-AF65-F5344CB8AC3E}">
        <p14:creationId xmlns:p14="http://schemas.microsoft.com/office/powerpoint/2010/main" val="161975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9CA98-FB94-6BD7-34EC-BB5D951BE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1D110BFB-C4CA-5501-E1F2-A67860B95919}"/>
              </a:ext>
            </a:extLst>
          </p:cNvPr>
          <p:cNvSpPr/>
          <p:nvPr/>
        </p:nvSpPr>
        <p:spPr>
          <a:xfrm>
            <a:off x="522513" y="955148"/>
            <a:ext cx="261257" cy="986971"/>
          </a:xfrm>
          <a:prstGeom prst="roundRect">
            <a:avLst/>
          </a:prstGeom>
          <a:solidFill>
            <a:srgbClr val="C8B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3C610A3-9594-B5D0-AFC8-7687B63E1B90}"/>
              </a:ext>
            </a:extLst>
          </p:cNvPr>
          <p:cNvSpPr txBox="1"/>
          <p:nvPr/>
        </p:nvSpPr>
        <p:spPr>
          <a:xfrm>
            <a:off x="783770" y="1004827"/>
            <a:ext cx="37592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ja-JP" altLang="en-US" sz="5400" b="1" dirty="0">
                <a:effectLst/>
                <a:latin typeface="Poppins" panose="020B0502040204020203" pitchFamily="2" charset="0"/>
              </a:rPr>
              <a:t>ターゲット</a:t>
            </a:r>
            <a:endParaRPr lang="ja-JP" altLang="ja-JP" sz="5400" b="0" dirty="0">
              <a:effectLst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01BF6B5-A1D2-517F-C729-37BDDBBA7D73}"/>
              </a:ext>
            </a:extLst>
          </p:cNvPr>
          <p:cNvSpPr txBox="1"/>
          <p:nvPr/>
        </p:nvSpPr>
        <p:spPr>
          <a:xfrm>
            <a:off x="783769" y="5256521"/>
            <a:ext cx="48260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ja-JP" altLang="ja-JP" sz="2400" dirty="0"/>
              <a:t>Vライバー市場の急増と飽和</a:t>
            </a:r>
            <a:endParaRPr lang="en-US" altLang="ja-JP" sz="2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ja-JP" altLang="ja-JP" sz="2400" dirty="0"/>
              <a:t>差別化の難しさ</a:t>
            </a:r>
            <a:endParaRPr lang="ja-JP" altLang="ja-JP" sz="2400" dirty="0">
              <a:latin typeface="+mn-ea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016F302A-DB76-B954-0C96-2683F1B37C1D}"/>
              </a:ext>
            </a:extLst>
          </p:cNvPr>
          <p:cNvSpPr/>
          <p:nvPr/>
        </p:nvSpPr>
        <p:spPr>
          <a:xfrm>
            <a:off x="522512" y="3885534"/>
            <a:ext cx="261257" cy="986971"/>
          </a:xfrm>
          <a:prstGeom prst="roundRect">
            <a:avLst/>
          </a:prstGeom>
          <a:solidFill>
            <a:srgbClr val="C8B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85233A2-FFD0-D702-47F2-DA89932FD823}"/>
              </a:ext>
            </a:extLst>
          </p:cNvPr>
          <p:cNvSpPr txBox="1"/>
          <p:nvPr/>
        </p:nvSpPr>
        <p:spPr>
          <a:xfrm>
            <a:off x="847932" y="3949175"/>
            <a:ext cx="37592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ja-JP" altLang="en-US" sz="5400" b="1" dirty="0">
                <a:effectLst/>
                <a:latin typeface="Poppins" panose="020B0502040204020203" pitchFamily="2" charset="0"/>
              </a:rPr>
              <a:t>目的・背景</a:t>
            </a:r>
            <a:endParaRPr lang="ja-JP" altLang="ja-JP" sz="5400" b="0" dirty="0">
              <a:effectLst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C0B6A37-A21D-249A-ADE4-F075A62D59F3}"/>
              </a:ext>
            </a:extLst>
          </p:cNvPr>
          <p:cNvSpPr txBox="1"/>
          <p:nvPr/>
        </p:nvSpPr>
        <p:spPr>
          <a:xfrm>
            <a:off x="653141" y="2326136"/>
            <a:ext cx="91397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ja-JP" sz="2400" dirty="0"/>
              <a:t>10</a:t>
            </a:r>
            <a:r>
              <a:rPr lang="ja-JP" altLang="ja-JP" sz="2400" dirty="0"/>
              <a:t>代後半〜</a:t>
            </a:r>
            <a:r>
              <a:rPr lang="en-US" altLang="ja-JP" sz="2400" dirty="0"/>
              <a:t>30</a:t>
            </a:r>
            <a:r>
              <a:rPr lang="ja-JP" altLang="ja-JP" sz="2400" dirty="0"/>
              <a:t>代の</a:t>
            </a:r>
            <a:r>
              <a:rPr lang="en-US" altLang="ja-JP" sz="2400" dirty="0"/>
              <a:t>V</a:t>
            </a:r>
            <a:r>
              <a:rPr lang="ja-JP" altLang="ja-JP" sz="2400" dirty="0"/>
              <a:t>ライバー・</a:t>
            </a:r>
            <a:r>
              <a:rPr lang="en-US" altLang="ja-JP" sz="2400" dirty="0" err="1"/>
              <a:t>VTuber</a:t>
            </a:r>
            <a:r>
              <a:rPr lang="ja-JP" altLang="ja-JP" sz="2400" dirty="0"/>
              <a:t>文化に興味を持つ層</a:t>
            </a:r>
            <a:endParaRPr lang="ja-JP" altLang="ja-JP" sz="2400" dirty="0">
              <a:latin typeface="+mn-ea"/>
            </a:endParaRPr>
          </a:p>
        </p:txBody>
      </p:sp>
      <p:sp>
        <p:nvSpPr>
          <p:cNvPr id="4" name="矢印: 右 3">
            <a:extLst>
              <a:ext uri="{FF2B5EF4-FFF2-40B4-BE49-F238E27FC236}">
                <a16:creationId xmlns:a16="http://schemas.microsoft.com/office/drawing/2014/main" id="{55077150-AB83-5A4F-81AA-904DE38CCC19}"/>
              </a:ext>
            </a:extLst>
          </p:cNvPr>
          <p:cNvSpPr/>
          <p:nvPr/>
        </p:nvSpPr>
        <p:spPr>
          <a:xfrm>
            <a:off x="5609772" y="5256521"/>
            <a:ext cx="1364343" cy="830997"/>
          </a:xfrm>
          <a:prstGeom prst="rightArrow">
            <a:avLst/>
          </a:prstGeom>
          <a:solidFill>
            <a:srgbClr val="C8B6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8725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23D7A-7780-F2BC-835D-7593D6E2C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image.png">
            <a:extLst>
              <a:ext uri="{FF2B5EF4-FFF2-40B4-BE49-F238E27FC236}">
                <a16:creationId xmlns:a16="http://schemas.microsoft.com/office/drawing/2014/main" id="{355D4768-0E89-1DF2-CA27-670133ECD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8" name="タイトル 1">
            <a:extLst>
              <a:ext uri="{FF2B5EF4-FFF2-40B4-BE49-F238E27FC236}">
                <a16:creationId xmlns:a16="http://schemas.microsoft.com/office/drawing/2014/main" id="{97BFBD00-3905-9420-436C-B3CB71F1FB37}"/>
              </a:ext>
            </a:extLst>
          </p:cNvPr>
          <p:cNvSpPr txBox="1">
            <a:spLocks/>
          </p:cNvSpPr>
          <p:nvPr/>
        </p:nvSpPr>
        <p:spPr>
          <a:xfrm>
            <a:off x="10088380" y="6235908"/>
            <a:ext cx="3040202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>
                <a:solidFill>
                  <a:schemeClr val="bg1"/>
                </a:solidFill>
              </a:rPr>
              <a:t>▲イメージ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626CE730-FD39-528C-6F00-D1165B9599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386"/>
          <a:stretch>
            <a:fillRect/>
          </a:stretch>
        </p:blipFill>
        <p:spPr>
          <a:xfrm>
            <a:off x="6244230" y="149902"/>
            <a:ext cx="5799540" cy="6086006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0282040-7D18-BCAA-468C-B2A4E3434DF5}"/>
              </a:ext>
            </a:extLst>
          </p:cNvPr>
          <p:cNvSpPr/>
          <p:nvPr/>
        </p:nvSpPr>
        <p:spPr>
          <a:xfrm>
            <a:off x="522513" y="955148"/>
            <a:ext cx="261257" cy="986971"/>
          </a:xfrm>
          <a:prstGeom prst="roundRect">
            <a:avLst/>
          </a:prstGeom>
          <a:solidFill>
            <a:srgbClr val="C8B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EF714B5-70CF-8D63-B3CA-AA45A77DA7D8}"/>
              </a:ext>
            </a:extLst>
          </p:cNvPr>
          <p:cNvSpPr txBox="1"/>
          <p:nvPr/>
        </p:nvSpPr>
        <p:spPr>
          <a:xfrm>
            <a:off x="783770" y="1004827"/>
            <a:ext cx="43756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ja-JP" altLang="en-US" sz="5400" b="0" dirty="0">
                <a:effectLst/>
              </a:rPr>
              <a:t>サイトの構成</a:t>
            </a:r>
            <a:endParaRPr lang="ja-JP" altLang="ja-JP" sz="5400" b="0" dirty="0">
              <a:effectLst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19256F0-C2C0-1351-5DCB-C7DD60923455}"/>
              </a:ext>
            </a:extLst>
          </p:cNvPr>
          <p:cNvSpPr txBox="1"/>
          <p:nvPr/>
        </p:nvSpPr>
        <p:spPr>
          <a:xfrm>
            <a:off x="522513" y="2299556"/>
            <a:ext cx="5164000" cy="371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3200" dirty="0">
                <a:latin typeface="Poppins" panose="020B0502040204020203" pitchFamily="2" charset="0"/>
              </a:rPr>
              <a:t>ニュース</a:t>
            </a:r>
            <a:endParaRPr lang="en-US" altLang="ja-JP" sz="3200" dirty="0">
              <a:latin typeface="Poppins" panose="020B0502040204020203" pitchFamily="2" charset="0"/>
            </a:endParaRPr>
          </a:p>
          <a:p>
            <a:pPr marL="685800" indent="-6858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3200" dirty="0">
                <a:effectLst/>
                <a:latin typeface="Poppins" panose="020B0502040204020203" pitchFamily="2" charset="0"/>
              </a:rPr>
              <a:t>メンバー</a:t>
            </a:r>
            <a:endParaRPr lang="en-US" altLang="ja-JP" sz="3200" dirty="0">
              <a:effectLst/>
              <a:latin typeface="Poppins" panose="020B0502040204020203" pitchFamily="2" charset="0"/>
            </a:endParaRPr>
          </a:p>
          <a:p>
            <a:pPr marL="685800" indent="-6858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3200" dirty="0">
                <a:effectLst/>
              </a:rPr>
              <a:t>グッズ</a:t>
            </a:r>
            <a:endParaRPr lang="en-US" altLang="ja-JP" sz="3200" dirty="0">
              <a:effectLst/>
            </a:endParaRPr>
          </a:p>
          <a:p>
            <a:pPr marL="685800" indent="-6858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3200" dirty="0"/>
              <a:t>コンテンツ</a:t>
            </a:r>
            <a:endParaRPr lang="en-US" altLang="ja-JP" sz="3200" dirty="0">
              <a:effectLst/>
            </a:endParaRPr>
          </a:p>
          <a:p>
            <a:pPr marL="685800" indent="-6858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3200" dirty="0"/>
              <a:t>スケジュール</a:t>
            </a:r>
            <a:endParaRPr lang="ja-JP" altLang="ja-JP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90234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B26F4-B600-6424-0443-0950948CB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 descr="image.png">
            <a:extLst>
              <a:ext uri="{FF2B5EF4-FFF2-40B4-BE49-F238E27FC236}">
                <a16:creationId xmlns:a16="http://schemas.microsoft.com/office/drawing/2014/main" id="{019F11D3-C184-E075-AB57-56E072821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2DA85FF7-3E35-3F52-A025-F33F1FD58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964" y="1143694"/>
            <a:ext cx="9234717" cy="4996569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B31692B-B73D-95D1-8717-BAFD41A92426}"/>
              </a:ext>
            </a:extLst>
          </p:cNvPr>
          <p:cNvSpPr txBox="1"/>
          <p:nvPr/>
        </p:nvSpPr>
        <p:spPr>
          <a:xfrm>
            <a:off x="264015" y="1466797"/>
            <a:ext cx="25669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1" lang="ja-JP" altLang="en-US" dirty="0"/>
              <a:t>ページ数は</a:t>
            </a:r>
            <a:r>
              <a:rPr kumimoji="1" lang="en-US" altLang="ja-JP" dirty="0"/>
              <a:t>5</a:t>
            </a:r>
            <a:r>
              <a:rPr kumimoji="1" lang="ja-JP" altLang="en-US" dirty="0"/>
              <a:t>程度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ja-JP" dirty="0"/>
              <a:t>1</a:t>
            </a:r>
            <a:r>
              <a:rPr lang="ja-JP" altLang="en-US" dirty="0"/>
              <a:t>ページにつき</a:t>
            </a:r>
            <a:r>
              <a:rPr kumimoji="1" lang="ja-JP" altLang="en-US" dirty="0"/>
              <a:t>使用するイラストは</a:t>
            </a:r>
            <a:r>
              <a:rPr kumimoji="1" lang="en-US" altLang="ja-JP" dirty="0"/>
              <a:t>4</a:t>
            </a:r>
            <a:r>
              <a:rPr kumimoji="1" lang="ja-JP" altLang="en-US" dirty="0"/>
              <a:t>枚程度</a:t>
            </a:r>
            <a:endParaRPr kumimoji="1" lang="en-US" altLang="ja-JP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8E7DA95D-CB2B-F11C-1F86-42A253DF1BBD}"/>
              </a:ext>
            </a:extLst>
          </p:cNvPr>
          <p:cNvCxnSpPr/>
          <p:nvPr/>
        </p:nvCxnSpPr>
        <p:spPr>
          <a:xfrm>
            <a:off x="264015" y="2845892"/>
            <a:ext cx="2286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ED45216-99FE-150C-3B55-4E571870ED7B}"/>
              </a:ext>
            </a:extLst>
          </p:cNvPr>
          <p:cNvSpPr txBox="1"/>
          <p:nvPr/>
        </p:nvSpPr>
        <p:spPr>
          <a:xfrm>
            <a:off x="264015" y="3051453"/>
            <a:ext cx="2566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1" lang="ja-JP" altLang="en-US" dirty="0"/>
              <a:t>実際の</a:t>
            </a:r>
            <a:r>
              <a:rPr kumimoji="1" lang="en-US" altLang="ja-JP" dirty="0"/>
              <a:t>V</a:t>
            </a:r>
            <a:r>
              <a:rPr kumimoji="1" lang="ja-JP" altLang="en-US" dirty="0"/>
              <a:t>ライバーの</a:t>
            </a:r>
            <a:endParaRPr kumimoji="1" lang="en-US" altLang="ja-JP" dirty="0"/>
          </a:p>
          <a:p>
            <a:r>
              <a:rPr kumimoji="1" lang="ja-JP" altLang="en-US" dirty="0"/>
              <a:t>　サイトを参考に制作</a:t>
            </a:r>
            <a:endParaRPr lang="en-US" altLang="ja-JP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497AEC3-4804-F626-E86A-DC1133F6AEAD}"/>
              </a:ext>
            </a:extLst>
          </p:cNvPr>
          <p:cNvSpPr txBox="1"/>
          <p:nvPr/>
        </p:nvSpPr>
        <p:spPr>
          <a:xfrm>
            <a:off x="264015" y="4082111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dirty="0"/>
              <a:t>参照：歌い手公式等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16389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E8C13-65C1-0112-8FB9-3160BF82D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image.png">
            <a:extLst>
              <a:ext uri="{FF2B5EF4-FFF2-40B4-BE49-F238E27FC236}">
                <a16:creationId xmlns:a16="http://schemas.microsoft.com/office/drawing/2014/main" id="{C4B67923-5D03-F9B9-A5EA-566A4E754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C13F8FD-27E7-A20E-771D-5DE4F220E4D9}"/>
              </a:ext>
            </a:extLst>
          </p:cNvPr>
          <p:cNvSpPr txBox="1"/>
          <p:nvPr/>
        </p:nvSpPr>
        <p:spPr>
          <a:xfrm>
            <a:off x="252090" y="2712491"/>
            <a:ext cx="61601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ja-JP" sz="5400" b="1" dirty="0">
                <a:solidFill>
                  <a:srgbClr val="FFFFFF"/>
                </a:solidFill>
                <a:latin typeface="Poppins" panose="020B0502040204020203" pitchFamily="2" charset="0"/>
              </a:rPr>
              <a:t>Topic.</a:t>
            </a:r>
            <a:r>
              <a:rPr lang="ja-JP" altLang="ja-JP" sz="5400" b="1" i="0" u="none" strike="noStrike" dirty="0">
                <a:solidFill>
                  <a:srgbClr val="FFFFFF"/>
                </a:solidFill>
                <a:effectLst/>
                <a:latin typeface="Poppins" panose="020B0502040204020203" pitchFamily="2" charset="0"/>
              </a:rPr>
              <a:t>0</a:t>
            </a:r>
            <a:r>
              <a:rPr lang="en-US" altLang="ja-JP" sz="5400" b="1" i="0" u="none" strike="noStrike" dirty="0">
                <a:solidFill>
                  <a:srgbClr val="FFFFFF"/>
                </a:solidFill>
                <a:effectLst/>
                <a:latin typeface="Poppins" panose="020B0502040204020203" pitchFamily="2" charset="0"/>
              </a:rPr>
              <a:t>2</a:t>
            </a:r>
            <a:endParaRPr lang="ja-JP" altLang="ja-JP" sz="5400" b="0" dirty="0">
              <a:effectLst/>
            </a:endParaRPr>
          </a:p>
        </p:txBody>
      </p:sp>
      <p:sp>
        <p:nvSpPr>
          <p:cNvPr id="19" name="タイトル 1">
            <a:extLst>
              <a:ext uri="{FF2B5EF4-FFF2-40B4-BE49-F238E27FC236}">
                <a16:creationId xmlns:a16="http://schemas.microsoft.com/office/drawing/2014/main" id="{BC1FE08A-D51D-516A-5F81-F11378F977ED}"/>
              </a:ext>
            </a:extLst>
          </p:cNvPr>
          <p:cNvSpPr txBox="1">
            <a:spLocks/>
          </p:cNvSpPr>
          <p:nvPr/>
        </p:nvSpPr>
        <p:spPr>
          <a:xfrm>
            <a:off x="252090" y="3683844"/>
            <a:ext cx="4885968" cy="6232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>
                <a:solidFill>
                  <a:schemeClr val="bg1"/>
                </a:solidFill>
              </a:rPr>
              <a:t>新作ゲーム公式サイト</a:t>
            </a:r>
          </a:p>
        </p:txBody>
      </p:sp>
    </p:spTree>
    <p:extLst>
      <p:ext uri="{BB962C8B-B14F-4D97-AF65-F5344CB8AC3E}">
        <p14:creationId xmlns:p14="http://schemas.microsoft.com/office/powerpoint/2010/main" val="3360457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D5734-BCA9-AE32-BBD8-C8C9FF2CE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F217F657-5F66-E83E-7B08-CFFB6A9FAE5F}"/>
              </a:ext>
            </a:extLst>
          </p:cNvPr>
          <p:cNvSpPr/>
          <p:nvPr/>
        </p:nvSpPr>
        <p:spPr>
          <a:xfrm>
            <a:off x="522513" y="955148"/>
            <a:ext cx="261257" cy="986971"/>
          </a:xfrm>
          <a:prstGeom prst="roundRect">
            <a:avLst/>
          </a:prstGeom>
          <a:solidFill>
            <a:srgbClr val="C8B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87CF9EA-DCBB-06B1-C083-0B8648222BB4}"/>
              </a:ext>
            </a:extLst>
          </p:cNvPr>
          <p:cNvSpPr txBox="1"/>
          <p:nvPr/>
        </p:nvSpPr>
        <p:spPr>
          <a:xfrm>
            <a:off x="783770" y="1004827"/>
            <a:ext cx="37592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ja-JP" altLang="en-US" sz="5400" b="1" dirty="0">
                <a:effectLst/>
                <a:latin typeface="Poppins" panose="020B0502040204020203" pitchFamily="2" charset="0"/>
              </a:rPr>
              <a:t>ターゲット</a:t>
            </a:r>
            <a:endParaRPr lang="ja-JP" altLang="ja-JP" sz="5400" b="0" dirty="0">
              <a:effectLst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8F89506-BB12-A33C-B4F0-E56563D717D3}"/>
              </a:ext>
            </a:extLst>
          </p:cNvPr>
          <p:cNvSpPr/>
          <p:nvPr/>
        </p:nvSpPr>
        <p:spPr>
          <a:xfrm>
            <a:off x="522512" y="3885534"/>
            <a:ext cx="261257" cy="986971"/>
          </a:xfrm>
          <a:prstGeom prst="roundRect">
            <a:avLst/>
          </a:prstGeom>
          <a:solidFill>
            <a:srgbClr val="C8B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4609038-AEBC-C2CB-C660-02382903FCD6}"/>
              </a:ext>
            </a:extLst>
          </p:cNvPr>
          <p:cNvSpPr txBox="1"/>
          <p:nvPr/>
        </p:nvSpPr>
        <p:spPr>
          <a:xfrm>
            <a:off x="847932" y="3949175"/>
            <a:ext cx="37592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ja-JP" altLang="en-US" sz="5400" b="1" dirty="0">
                <a:effectLst/>
                <a:latin typeface="Poppins" panose="020B0502040204020203" pitchFamily="2" charset="0"/>
              </a:rPr>
              <a:t>目的・背景</a:t>
            </a:r>
            <a:endParaRPr lang="ja-JP" altLang="ja-JP" sz="5400" b="0" dirty="0">
              <a:effectLst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76BF737-C322-1ECA-F33A-4E899A584FAC}"/>
              </a:ext>
            </a:extLst>
          </p:cNvPr>
          <p:cNvSpPr txBox="1"/>
          <p:nvPr/>
        </p:nvSpPr>
        <p:spPr>
          <a:xfrm>
            <a:off x="653141" y="2326136"/>
            <a:ext cx="96117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ja-JP" altLang="ja-JP" sz="2400" dirty="0"/>
              <a:t>自発的に伏線や設定を考察することを楽しむ、10代から20代のミステリー・人狼ゲームのコアファン層</a:t>
            </a:r>
            <a:endParaRPr lang="ja-JP" altLang="ja-JP" sz="2400" dirty="0">
              <a:latin typeface="+mn-ea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967F540-F9EC-2D5E-A14D-AAC94A39AD3C}"/>
              </a:ext>
            </a:extLst>
          </p:cNvPr>
          <p:cNvSpPr txBox="1"/>
          <p:nvPr/>
        </p:nvSpPr>
        <p:spPr>
          <a:xfrm>
            <a:off x="839371" y="5124104"/>
            <a:ext cx="69772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ja-JP" sz="2400" dirty="0"/>
              <a:t>プレイヤーをゲームプレイ前から引きずり込む「プロローグ（入り口）」としてのサイト構築</a:t>
            </a:r>
            <a:endParaRPr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96154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8F677-F204-18C0-D7D8-0A50A7D5B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image.png">
            <a:extLst>
              <a:ext uri="{FF2B5EF4-FFF2-40B4-BE49-F238E27FC236}">
                <a16:creationId xmlns:a16="http://schemas.microsoft.com/office/drawing/2014/main" id="{08074DBD-028F-F2E9-1DA9-AEEBD6FA2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8" name="タイトル 1">
            <a:extLst>
              <a:ext uri="{FF2B5EF4-FFF2-40B4-BE49-F238E27FC236}">
                <a16:creationId xmlns:a16="http://schemas.microsoft.com/office/drawing/2014/main" id="{6494BCFC-2DDB-D12F-224B-A793204C6599}"/>
              </a:ext>
            </a:extLst>
          </p:cNvPr>
          <p:cNvSpPr txBox="1">
            <a:spLocks/>
          </p:cNvSpPr>
          <p:nvPr/>
        </p:nvSpPr>
        <p:spPr>
          <a:xfrm>
            <a:off x="10088380" y="6235908"/>
            <a:ext cx="3040202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>
                <a:solidFill>
                  <a:schemeClr val="bg1"/>
                </a:solidFill>
              </a:rPr>
              <a:t>▲イメージ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F5266C3-076F-4E6A-808C-69D716D80C4D}"/>
              </a:ext>
            </a:extLst>
          </p:cNvPr>
          <p:cNvSpPr/>
          <p:nvPr/>
        </p:nvSpPr>
        <p:spPr>
          <a:xfrm>
            <a:off x="522513" y="955148"/>
            <a:ext cx="261257" cy="986971"/>
          </a:xfrm>
          <a:prstGeom prst="roundRect">
            <a:avLst/>
          </a:prstGeom>
          <a:solidFill>
            <a:srgbClr val="C8B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A72E598-B20A-4D43-42DA-DF28F35127EE}"/>
              </a:ext>
            </a:extLst>
          </p:cNvPr>
          <p:cNvSpPr txBox="1"/>
          <p:nvPr/>
        </p:nvSpPr>
        <p:spPr>
          <a:xfrm>
            <a:off x="783770" y="1004827"/>
            <a:ext cx="37592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ja-JP" altLang="en-US" sz="5400" b="0" dirty="0">
                <a:effectLst/>
              </a:rPr>
              <a:t>作品概要</a:t>
            </a:r>
            <a:endParaRPr lang="ja-JP" altLang="ja-JP" sz="5400" b="0" dirty="0">
              <a:effectLst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2948695-A34F-D11C-CC56-87CF9BDE59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944"/>
          <a:stretch>
            <a:fillRect/>
          </a:stretch>
        </p:blipFill>
        <p:spPr>
          <a:xfrm>
            <a:off x="6183086" y="567407"/>
            <a:ext cx="5950857" cy="531813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D30D596-C152-9B23-5DA9-C714B06A9BDD}"/>
              </a:ext>
            </a:extLst>
          </p:cNvPr>
          <p:cNvSpPr txBox="1"/>
          <p:nvPr/>
        </p:nvSpPr>
        <p:spPr>
          <a:xfrm>
            <a:off x="522513" y="2299556"/>
            <a:ext cx="5164000" cy="3699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4000" dirty="0">
                <a:latin typeface="Poppins" panose="020B0502040204020203" pitchFamily="2" charset="0"/>
              </a:rPr>
              <a:t>世界観</a:t>
            </a:r>
            <a:endParaRPr lang="en-US" altLang="ja-JP" sz="4000" dirty="0">
              <a:latin typeface="Poppins" panose="020B0502040204020203" pitchFamily="2" charset="0"/>
            </a:endParaRPr>
          </a:p>
          <a:p>
            <a:pPr marL="685800" indent="-6858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4000" dirty="0">
                <a:effectLst/>
                <a:latin typeface="Poppins" panose="020B0502040204020203" pitchFamily="2" charset="0"/>
              </a:rPr>
              <a:t>ストーリー</a:t>
            </a:r>
            <a:endParaRPr lang="en-US" altLang="ja-JP" sz="4000" dirty="0">
              <a:effectLst/>
              <a:latin typeface="Poppins" panose="020B0502040204020203" pitchFamily="2" charset="0"/>
            </a:endParaRPr>
          </a:p>
          <a:p>
            <a:pPr marL="685800" indent="-6858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4000" dirty="0">
                <a:latin typeface="Poppins" panose="020B0502040204020203" pitchFamily="2" charset="0"/>
              </a:rPr>
              <a:t>マップ</a:t>
            </a:r>
            <a:endParaRPr lang="en-US" altLang="ja-JP" sz="4000" dirty="0">
              <a:effectLst/>
              <a:latin typeface="Poppins" panose="020B0502040204020203" pitchFamily="2" charset="0"/>
            </a:endParaRPr>
          </a:p>
          <a:p>
            <a:pPr marL="685800" indent="-6858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4000" dirty="0">
                <a:latin typeface="Poppins" panose="020B0502040204020203" pitchFamily="2" charset="0"/>
              </a:rPr>
              <a:t>キャラクター</a:t>
            </a:r>
            <a:endParaRPr lang="en-US" altLang="ja-JP" sz="4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73220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1B2A8-9452-3562-4D19-D5512A2C4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 descr="image.png">
            <a:extLst>
              <a:ext uri="{FF2B5EF4-FFF2-40B4-BE49-F238E27FC236}">
                <a16:creationId xmlns:a16="http://schemas.microsoft.com/office/drawing/2014/main" id="{2E9835B6-D7B9-56F5-1D70-149B245E3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69E473D-DDCD-E518-51CC-E57BF585C5D8}"/>
              </a:ext>
            </a:extLst>
          </p:cNvPr>
          <p:cNvSpPr txBox="1"/>
          <p:nvPr/>
        </p:nvSpPr>
        <p:spPr>
          <a:xfrm>
            <a:off x="264015" y="1466797"/>
            <a:ext cx="25669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1" lang="ja-JP" altLang="en-US" dirty="0"/>
              <a:t>ページ数は</a:t>
            </a:r>
            <a:r>
              <a:rPr lang="ja-JP" altLang="en-US" dirty="0"/>
              <a:t>７</a:t>
            </a:r>
            <a:r>
              <a:rPr kumimoji="1" lang="ja-JP" altLang="en-US" dirty="0"/>
              <a:t>程度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ja-JP" dirty="0"/>
              <a:t>1</a:t>
            </a:r>
            <a:r>
              <a:rPr lang="ja-JP" altLang="en-US" dirty="0"/>
              <a:t>ページにつき</a:t>
            </a:r>
            <a:r>
              <a:rPr kumimoji="1" lang="ja-JP" altLang="en-US" dirty="0"/>
              <a:t>使用するイラストは</a:t>
            </a:r>
            <a:r>
              <a:rPr kumimoji="1" lang="en-US" altLang="ja-JP" dirty="0"/>
              <a:t>4</a:t>
            </a:r>
            <a:r>
              <a:rPr kumimoji="1" lang="ja-JP" altLang="en-US" dirty="0"/>
              <a:t>枚程度</a:t>
            </a:r>
            <a:endParaRPr kumimoji="1" lang="en-US" altLang="ja-JP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4F8DC40-E571-490C-408B-42B4C113FC6A}"/>
              </a:ext>
            </a:extLst>
          </p:cNvPr>
          <p:cNvCxnSpPr/>
          <p:nvPr/>
        </p:nvCxnSpPr>
        <p:spPr>
          <a:xfrm>
            <a:off x="264015" y="2845892"/>
            <a:ext cx="2286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29CAD9F-0F88-BC41-6B55-0BCCD99EA5E0}"/>
              </a:ext>
            </a:extLst>
          </p:cNvPr>
          <p:cNvSpPr txBox="1"/>
          <p:nvPr/>
        </p:nvSpPr>
        <p:spPr>
          <a:xfrm>
            <a:off x="264015" y="3051453"/>
            <a:ext cx="27933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1" lang="ja-JP" altLang="en-US" dirty="0"/>
              <a:t>実際のゲームの公式</a:t>
            </a:r>
            <a:endParaRPr kumimoji="1" lang="en-US" altLang="ja-JP" dirty="0"/>
          </a:p>
          <a:p>
            <a:r>
              <a:rPr kumimoji="1" lang="ja-JP" altLang="en-US" dirty="0"/>
              <a:t>　サイトを参考</a:t>
            </a:r>
            <a:endParaRPr kumimoji="1" lang="en-US" altLang="ja-JP" dirty="0"/>
          </a:p>
          <a:p>
            <a:r>
              <a:rPr kumimoji="1" lang="ja-JP" altLang="en-US" dirty="0"/>
              <a:t>　参照：</a:t>
            </a:r>
            <a:endParaRPr kumimoji="1" lang="en-US" altLang="ja-JP" dirty="0"/>
          </a:p>
          <a:p>
            <a:r>
              <a:rPr lang="ja-JP" altLang="en-US" dirty="0"/>
              <a:t>　</a:t>
            </a:r>
            <a:r>
              <a:rPr kumimoji="1" lang="ja-JP" altLang="en-US" dirty="0"/>
              <a:t>魔法少女の魔女裁判</a:t>
            </a:r>
            <a:endParaRPr kumimoji="1" lang="en-US" altLang="ja-JP" dirty="0"/>
          </a:p>
          <a:p>
            <a:r>
              <a:rPr lang="ja-JP" altLang="en-US" dirty="0"/>
              <a:t>　配信少女の裏垢迷宮等</a:t>
            </a:r>
            <a:endParaRPr kumimoji="1" lang="en-US" altLang="ja-JP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E23BF66-41CD-C108-7466-8BE1282DF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4979" y="876401"/>
            <a:ext cx="9059446" cy="5105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356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25DE4-6A42-CA10-A234-69B70791B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1B107E00-B87A-ACA4-C9E6-F2887935A611}"/>
              </a:ext>
            </a:extLst>
          </p:cNvPr>
          <p:cNvSpPr txBox="1">
            <a:spLocks/>
          </p:cNvSpPr>
          <p:nvPr/>
        </p:nvSpPr>
        <p:spPr>
          <a:xfrm>
            <a:off x="340428" y="159657"/>
            <a:ext cx="3201058" cy="12917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今後の流れ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72F67AAB-92FC-8C26-1932-78131339D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409706"/>
              </p:ext>
            </p:extLst>
          </p:nvPr>
        </p:nvGraphicFramePr>
        <p:xfrm>
          <a:off x="454479" y="1284401"/>
          <a:ext cx="10068378" cy="4884167"/>
        </p:xfrm>
        <a:graphic>
          <a:graphicData uri="http://schemas.openxmlformats.org/drawingml/2006/table">
            <a:tbl>
              <a:tblPr/>
              <a:tblGrid>
                <a:gridCol w="1760206">
                  <a:extLst>
                    <a:ext uri="{9D8B030D-6E8A-4147-A177-3AD203B41FA5}">
                      <a16:colId xmlns:a16="http://schemas.microsoft.com/office/drawing/2014/main" val="1102745563"/>
                    </a:ext>
                  </a:extLst>
                </a:gridCol>
                <a:gridCol w="8308172">
                  <a:extLst>
                    <a:ext uri="{9D8B030D-6E8A-4147-A177-3AD203B41FA5}">
                      <a16:colId xmlns:a16="http://schemas.microsoft.com/office/drawing/2014/main" val="3598286566"/>
                    </a:ext>
                  </a:extLst>
                </a:gridCol>
              </a:tblGrid>
              <a:tr h="47419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時期</a:t>
                      </a:r>
                      <a:endParaRPr lang="ja-JP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内容</a:t>
                      </a:r>
                      <a:endParaRPr lang="ja-JP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219947"/>
                  </a:ext>
                </a:extLst>
              </a:tr>
              <a:tr h="78715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7月</a:t>
                      </a:r>
                      <a:endParaRPr lang="ja-JP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Illustratorでワイヤーフレーム作成</a:t>
                      </a:r>
                      <a:endParaRPr lang="ja-JP" dirty="0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798795"/>
                  </a:ext>
                </a:extLst>
              </a:tr>
              <a:tr h="78715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8月</a:t>
                      </a:r>
                      <a:endParaRPr lang="ja-JP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ja-JP" dirty="0">
                          <a:effectLst/>
                        </a:rPr>
                        <a:t>Web</a:t>
                      </a:r>
                      <a:r>
                        <a:rPr lang="ja-JP" altLang="en-US" dirty="0">
                          <a:effectLst/>
                        </a:rPr>
                        <a:t>サイトで使用するイラスト制作</a:t>
                      </a:r>
                      <a:endParaRPr lang="ja-JP" dirty="0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631846"/>
                  </a:ext>
                </a:extLst>
              </a:tr>
              <a:tr h="47419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9月</a:t>
                      </a:r>
                      <a:endParaRPr lang="ja-JP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HTML・CSSでWebサイトを制作開始</a:t>
                      </a:r>
                      <a:endParaRPr lang="ja-JP" dirty="0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444715"/>
                  </a:ext>
                </a:extLst>
              </a:tr>
              <a:tr h="78715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10月</a:t>
                      </a:r>
                      <a:endParaRPr lang="ja-JP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デザイン調整、コーディング</a:t>
                      </a:r>
                      <a:endParaRPr lang="ja-JP" dirty="0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072455"/>
                  </a:ext>
                </a:extLst>
              </a:tr>
              <a:tr h="78715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11月</a:t>
                      </a:r>
                      <a:endParaRPr lang="ja-JP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Webサイトの修正・動作確認、</a:t>
                      </a:r>
                      <a:r>
                        <a:rPr lang="ja-JP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ポスターのデザイン制作</a:t>
                      </a:r>
                      <a:endParaRPr lang="ja-JP" dirty="0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171140"/>
                  </a:ext>
                </a:extLst>
              </a:tr>
              <a:tr h="78715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12月</a:t>
                      </a:r>
                      <a:endParaRPr lang="ja-JP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ポスター完成</a:t>
                      </a:r>
                      <a:endParaRPr lang="ja-JP" dirty="0">
                        <a:effectLst/>
                      </a:endParaRPr>
                    </a:p>
                  </a:txBody>
                  <a:tcPr marL="68580" marR="6858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549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416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2585</TotalTime>
  <Words>271</Words>
  <Application>Microsoft Office PowerPoint</Application>
  <PresentationFormat>ワイド画面</PresentationFormat>
  <Paragraphs>66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8" baseType="lpstr">
      <vt:lpstr>游ゴシック</vt:lpstr>
      <vt:lpstr>游ゴシック Light</vt:lpstr>
      <vt:lpstr>ADLaM Display</vt:lpstr>
      <vt:lpstr>Arial</vt:lpstr>
      <vt:lpstr>Poppins</vt:lpstr>
      <vt:lpstr>Wingdings</vt:lpstr>
      <vt:lpstr>Office テーマ</vt:lpstr>
      <vt:lpstr>卒業制作中間発表</vt:lpstr>
      <vt:lpstr>Vライバー事務所公式サイト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田中　美絵浬</dc:creator>
  <cp:lastModifiedBy>田中　美絵浬</cp:lastModifiedBy>
  <cp:revision>7</cp:revision>
  <dcterms:created xsi:type="dcterms:W3CDTF">2026-07-02T03:20:27Z</dcterms:created>
  <dcterms:modified xsi:type="dcterms:W3CDTF">2026-07-06T07:42:58Z</dcterms:modified>
</cp:coreProperties>
</file>